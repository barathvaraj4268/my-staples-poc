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matrix, six zones. Counts are Staples aisles (L1 › L2) and the sub-categories seen at 2+ competitors that sit under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STAPLES.COM MARKETPLACE · CATEGORY PoC v2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Staples should open its marketplace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0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recommendations from six navigation trees – what to open to sellers, what to keep in 1P, what to fix, what to pass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Pat · 24 September 2026 · Evidence: Staples + Office Depot, West Elm, Wayfair, Amazon, Walmart · 13,306 competitor category pages · 914 labelled checks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calls for Staples, from one decision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148840" cy="4846320"/>
          </a:xfrm>
          <a:prstGeom prst="rect">
            <a:avLst/>
          </a:prstGeom>
          <a:solidFill>
            <a:srgbClr val="E6F2E6"/>
          </a:solidFill>
          <a:ln w="12700">
            <a:solidFill>
              <a:srgbClr val="E6F2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581912"/>
            <a:ext cx="1929384" cy="329184"/>
          </a:xfrm>
          <a:prstGeom prst="roundRect">
            <a:avLst>
              <a:gd name="adj" fmla="val 50000"/>
            </a:avLst>
          </a:prstGeom>
          <a:solidFill>
            <a:srgbClr val="008300"/>
          </a:solidFill>
          <a:ln w="12700">
            <a:solidFill>
              <a:srgbClr val="0083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581912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574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curated sellers now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aisles · 48 sub-categories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474720"/>
            <a:ext cx="1874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Furniture › Décor (bedding, bath &amp; shower, candles, décor, vanities); then Sewing &amp; Tailoring, Grounds &amp; outdoor living, home &amp; office tables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1417320"/>
            <a:ext cx="2148840" cy="484632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52928" y="1581912"/>
            <a:ext cx="1929384" cy="329184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52928" y="1581912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EXTENSION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20574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2, via a served vertical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aisles · 53 sub-categories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3474720"/>
            <a:ext cx="1874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&amp; greenhouse, outdoor structures, bedroom/dorm furniture, vases &amp; picnic ware, fitness, material handling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417320"/>
            <a:ext cx="2148840" cy="4846320"/>
          </a:xfrm>
          <a:prstGeom prst="rect">
            <a:avLst/>
          </a:prstGeom>
          <a:solidFill>
            <a:srgbClr val="FBE7E7"/>
          </a:solidFill>
          <a:ln w="12700">
            <a:solidFill>
              <a:srgbClr val="FBE7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38928" y="1581912"/>
            <a:ext cx="1929384" cy="329184"/>
          </a:xfrm>
          <a:prstGeom prst="roundRect">
            <a:avLst>
              <a:gd name="adj" fmla="val 50000"/>
            </a:avLst>
          </a:prstGeom>
          <a:solidFill>
            <a:srgbClr val="E34948"/>
          </a:solidFill>
          <a:ln w="12700">
            <a:solidFill>
              <a:srgbClr val="E349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38928" y="1581912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1P-CORE GAP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20574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 1P – fix the range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aisles · 30 sub-categories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3474720"/>
            <a:ext cx="1874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chairs, breakroom appliances, storage, chair mats, binders, coffee. Plus 14 REVIEW aisles for merchants (lighting, tabletop)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1417320"/>
            <a:ext cx="2148840" cy="4846320"/>
          </a:xfrm>
          <a:prstGeom prst="rect">
            <a:avLst/>
          </a:prstGeom>
          <a:solidFill>
            <a:srgbClr val="ECEAF6"/>
          </a:solidFill>
          <a:ln w="12700">
            <a:solidFill>
              <a:srgbClr val="ECEA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24928" y="1581912"/>
            <a:ext cx="1929384" cy="329184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24928" y="1581912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20574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findability first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of 219 "gaps" already sold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3474720"/>
            <a:ext cx="1874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 &amp; home fragrance, evaporative coolers, pull-out pantries, sneeze guards, camera lenses – rename and cross-list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01200" y="1417320"/>
            <a:ext cx="2148840" cy="484632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10928" y="1581912"/>
            <a:ext cx="1929384" cy="329184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10928" y="1581912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OFF-BRAND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738360" y="20574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73836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competitor depts · 57 sub-categories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738360" y="3474720"/>
            <a:ext cx="1874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Livestock &amp; garden supplies, craft niches, individual sports, holiday-specific décor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run_framework.py → summary.json, sheet Aisle_Recommendations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to the answer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44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finalised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compared against, and what each tree gives 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548640" cy="548640"/>
          </a:xfrm>
          <a:prstGeom prst="ellipse">
            <a:avLst/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2494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and flow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5877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engines (vector DB and graph DB), calibration, verification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72384"/>
            <a:ext cx="548640" cy="548640"/>
          </a:xfrm>
          <a:prstGeom prst="ellipse">
            <a:avLst/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72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0540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39242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zones on adjacency × cannibalisation; the scores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77056"/>
            <a:ext cx="548640" cy="548640"/>
          </a:xfrm>
          <a:prstGeom prst="ellipse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877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858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recommendations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197096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at Staples-aisle level; strategic themes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81728"/>
            <a:ext cx="548640" cy="548640"/>
          </a:xfrm>
          <a:prstGeom prst="ellipse">
            <a:avLst/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681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by zone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0017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· VERTICAL EXTENSION · REVIEW · 1P-CORE GAP · OFF-BRAND · VERIFY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548640" cy="548640"/>
          </a:xfrm>
          <a:prstGeom prst="ellipse">
            <a:avLst/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486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4681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and next steps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8064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test, method agreement, what to do next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COMPETITORS FINALISED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competitors, three lenses – and very different data</a:t>
            </a:r>
            <a:endParaRPr lang="en-US" sz="2600" dirty="0"/>
          </a:p>
        </p:txBody>
      </p:sp>
      <p:pic>
        <p:nvPicPr>
          <p:cNvPr id="4" name="Image 0" descr="/home/claude/v2/outputs/final/figures/fig01_data_avail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907837"/>
            <a:ext cx="7680960" cy="16707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389120"/>
            <a:ext cx="2377440" cy="18745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4498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4864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Depot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212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B2B catalogue; shows where Staples is shallow in its own core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017520" y="4389120"/>
            <a:ext cx="2377440" cy="18745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54680" y="4498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4864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Elm · Wayfair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154680" y="5212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Design-led home and office; the 'white chair' lens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577840" y="4389120"/>
            <a:ext cx="2377440" cy="18745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15000" y="4498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715000" y="4864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· Walmart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5212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stores; confirm which gaps are mainstream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1371600"/>
            <a:ext cx="3474720" cy="493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counts: full for Office Depot and West Elm; Walmart only at L1–L2; none for Wayfair and Amazon – so the method measures breadth (shelves) everywhere and items where both sides publish them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varies from 2 to 5 levels. Embeddings use whatever path a node has, not fixed L1/L2/L3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department universe for all six (media, apparel, grocery, toys, pets … out); merchandising pages and facets removed; menu headings kept in the tree but skipped as meaning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figures/fig01_data_availability.png · sheets Data_Audit, Scope_Audit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COMPETITORS FINALISED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Depot mirrors Staples; the whitespace is with the lifestyle and scale players</a:t>
            </a:r>
            <a:endParaRPr lang="en-US" sz="2600" dirty="0"/>
          </a:p>
        </p:txBody>
      </p:sp>
      <p:pic>
        <p:nvPicPr>
          <p:cNvPr id="4" name="Image 0" descr="/home/claude/v2/outputs/final/figures/fig04_staples_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06409"/>
            <a:ext cx="8046720" cy="28965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12064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806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Office Depot's shelves are missing at Staples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057400" y="512064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2057400" y="5806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West Elm's shelves are missing at Staples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657600" y="512064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5806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Wayfair's shelves are missing at Staples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257800" y="512064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5257800" y="5806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Amazon's shelves are missing at Staples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512064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5806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Walmart's shelves are missing at Staples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1371600"/>
            <a:ext cx="3200400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labelled sample of each competitor's shelves: how many exist at Staples at all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Staples does have the shelf, it is often a token one – e.g. Bath &amp; Shower Accessories: 8 items; Curtains, Blinds &amp; Shades: 2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lifestyle story is as much DEEPEN (too thin) as ENTER (missing)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figures/fig04_staples_coverage.png · sheets Calibration, Node_Ensemble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APPROACH AND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steps from six shelf lists to one decision matrix</a:t>
            </a:r>
            <a:endParaRPr lang="en-US" sz="2600" dirty="0"/>
          </a:p>
        </p:txBody>
      </p:sp>
      <p:pic>
        <p:nvPicPr>
          <p:cNvPr id="4" name="Image 0" descr="/home/claude/v2/outputs/final/figures/fig02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428" y="1280160"/>
            <a:ext cx="10000665" cy="2651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0"/>
            <a:ext cx="3611880" cy="21488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251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engines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7091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V embeds every category with its path in a Qdrant vector DB. Method G builds one knowledge graph of all six trees. Scores are averaged, and disagreement lowers the evidence grade.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51960" y="4114800"/>
            <a:ext cx="3611880" cy="21488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34840" y="4251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Calibrated, not guessed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47091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695 labelled rows set the 'same shelf' threshold per competitor. No hard-coded cosine; a new competitor runs on pooled calibration from day one.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46720" y="4114800"/>
            <a:ext cx="3611880" cy="21488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0" y="4251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before recommended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091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model-flagged gaps were checked against Staples.com: 121 were already sold under another name. Those become findability actions, not assortment.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figures/fig02_flow.png · code: poc_common.py, method_v_vector.py, method_g_graph.py, run_framework.py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APPROACH AND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and graph DB: two lenses on the same question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V – vectors + Qdrant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similarity: 'which Staples shelf means the same?'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374904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ancestors, weighted by distance (level-agnostic)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chosen by bake-off: spaCy 68% top-1, WordLlama 66%, TF-IDF 60% (bge-small tested automatically in Colab)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Qdrant collection per retailer: fast hub-and-spoke queries, and peer search ('does Wayfair have this?')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325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G – knowledge graph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'where does it sit, and what surrounds it?'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148840"/>
            <a:ext cx="374904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trees + Staples cross-listings + SAME_AS links in one graph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flooding: parents and children must match too (Office Depot top-1 61% → 73%)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PageRank from Staples' shelves = adjacency; Neo4j export</a:t>
            </a:r>
            <a:endParaRPr lang="en-US" sz="1250" dirty="0"/>
          </a:p>
        </p:txBody>
      </p:sp>
      <p:pic>
        <p:nvPicPr>
          <p:cNvPr id="10" name="Image 0" descr="/home/claude/v2/outputs/final/figures/fig03_match_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316141"/>
            <a:ext cx="3566160" cy="112843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48463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both? </a:t>
            </a:r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fail differently. Vectors confuse shared words ("Drinking Glasses" vs "Drinking Fountains"); the graph is anchored by where a shelf sits. On new-category units the two place 44% in the same zone, and their adjacency scores correlate at ρ = 0.40. Where they disagree, the average places the unit and the evidence grade drops.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figures/fig03_match_quality.png · outputs/V/encoder_bakeoff.csv · sheet Calibration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APPROACH AND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'missing' categories are not missing – they are hard to find</a:t>
            </a:r>
            <a:endParaRPr lang="en-US" sz="2600" dirty="0"/>
          </a:p>
        </p:txBody>
      </p:sp>
      <p:pic>
        <p:nvPicPr>
          <p:cNvPr id="4" name="Image 0" descr="/home/claude/v2/outputs/final/figures/fig05_verification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01977"/>
            <a:ext cx="7680960" cy="20310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412480" y="1463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of 219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2148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model-flagged gaps were already on Staples.com under another name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9260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3611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real gaps – these feed the recommendations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00600"/>
            <a:ext cx="1124712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Patio furniture (1,116 items) lives under Gift Shop › Professional Gifts › 'Compasses'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Sneeze guards are sold as 'Desktop Privacy Panels'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are stored as labels: they override both models on every re-run and become the VERIFY findability list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figures/fig05_verification_loop.png · sheet Verification_Log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 place every category in one of six zones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377440" cy="2148840"/>
          </a:xfrm>
          <a:prstGeom prst="rect">
            <a:avLst/>
          </a:prstGeom>
          <a:solidFill>
            <a:srgbClr val="E6F2E6"/>
          </a:solidFill>
          <a:ln w="12700">
            <a:solidFill>
              <a:srgbClr val="E6F2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508760"/>
            <a:ext cx="2157984" cy="329184"/>
          </a:xfrm>
          <a:prstGeom prst="roundRect">
            <a:avLst>
              <a:gd name="adj" fmla="val 50000"/>
            </a:avLst>
          </a:prstGeom>
          <a:solidFill>
            <a:srgbClr val="008300"/>
          </a:solidFill>
          <a:ln w="12700">
            <a:solidFill>
              <a:srgbClr val="0083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50876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&lt; 40 · AAS ≥ 60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468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curated sellers now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71800" y="1371600"/>
            <a:ext cx="2377440" cy="214884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81528" y="1508760"/>
            <a:ext cx="2157984" cy="329184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81528" y="150876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EXTENSION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1965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&lt; 40 · AAS 40–60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468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through a served vertical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0" y="1371600"/>
            <a:ext cx="2377440" cy="214884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96128" y="1508760"/>
            <a:ext cx="2157984" cy="329184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96128" y="150876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OFF-BRAND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1965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&lt; 40 · AAS &lt; 40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2468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– real gap, wrong store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2377440" cy="2148840"/>
          </a:xfrm>
          <a:prstGeom prst="rect">
            <a:avLst/>
          </a:prstGeom>
          <a:solidFill>
            <a:srgbClr val="FDF3DC"/>
          </a:solidFill>
          <a:ln w="12700">
            <a:solidFill>
              <a:srgbClr val="FDF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840480"/>
            <a:ext cx="2157984" cy="329184"/>
          </a:xfrm>
          <a:prstGeom prst="roundRect">
            <a:avLst>
              <a:gd name="adj" fmla="val 50000"/>
            </a:avLst>
          </a:prstGeom>
          <a:solidFill>
            <a:srgbClr val="C98500"/>
          </a:solidFill>
          <a:ln w="12700">
            <a:solidFill>
              <a:srgbClr val="C985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84048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40–60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4800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decision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971800" y="3703320"/>
            <a:ext cx="2377440" cy="2148840"/>
          </a:xfrm>
          <a:prstGeom prst="rect">
            <a:avLst/>
          </a:prstGeom>
          <a:solidFill>
            <a:srgbClr val="FBE7E7"/>
          </a:solidFill>
          <a:ln w="12700">
            <a:solidFill>
              <a:srgbClr val="FBE7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81528" y="3840480"/>
            <a:ext cx="2157984" cy="329184"/>
          </a:xfrm>
          <a:prstGeom prst="roundRect">
            <a:avLst>
              <a:gd name="adj" fmla="val 50000"/>
            </a:avLst>
          </a:prstGeom>
          <a:solidFill>
            <a:srgbClr val="E34948"/>
          </a:solidFill>
          <a:ln w="12700">
            <a:solidFill>
              <a:srgbClr val="E3494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81528" y="384048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1P-CORE GAP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10896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≥ 60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108960" y="4800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in 1P; keep out of marketplace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0" y="3703320"/>
            <a:ext cx="2377440" cy="2148840"/>
          </a:xfrm>
          <a:prstGeom prst="rect">
            <a:avLst/>
          </a:prstGeom>
          <a:solidFill>
            <a:srgbClr val="ECEAF6"/>
          </a:solidFill>
          <a:ln w="12700">
            <a:solidFill>
              <a:srgbClr val="ECEA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96128" y="3840480"/>
            <a:ext cx="2157984" cy="329184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96128" y="384048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62356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Flagged, may already exist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623560" y="4800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first; fix findability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1783080"/>
            <a:ext cx="3566160" cy="448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 – adjacency (0–100): how embedded in what Staples sells; 100 = a typical Staples shelf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– cannibalisation risk (0–100): closeness to a Staples shelf × how core that shelf is to 1P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– how many of 5 competitors show it · GS – how big the missing chunk 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= (0.35 PC + 0.35 GS + 0.30 AAS/100) × (1 − CRS/100)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 = 3+ competitors and both engines agree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poc_common.label_row, opportunity · run_framework.label_and_rank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HIGH-LEVEL RECOMMENDATIONS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matrix: Staples aisles by zone</a:t>
            </a:r>
            <a:endParaRPr lang="en-US" sz="2600" dirty="0"/>
          </a:p>
        </p:txBody>
      </p:sp>
      <p:pic>
        <p:nvPicPr>
          <p:cNvPr id="4" name="Image 0" descr="/home/claude/v2/outputs/final/figures/fig06_matrix_ais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37227"/>
            <a:ext cx="8778240" cy="476078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235440" y="132588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008300"/>
          </a:solidFill>
          <a:ln w="12700">
            <a:solidFill>
              <a:srgbClr val="0083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235440" y="13258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23544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aisles · 48 sub-categories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235440" y="214884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235440" y="21488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EXTENSION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235440" y="2514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aisles · 53 sub-categories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235440" y="297180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C98500"/>
          </a:solidFill>
          <a:ln w="12700">
            <a:solidFill>
              <a:srgbClr val="C985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235440" y="29718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23544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aisles · 18 sub-categories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235440" y="379476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E34948"/>
          </a:solidFill>
          <a:ln w="12700">
            <a:solidFill>
              <a:srgbClr val="E3494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35440" y="37947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1P-CORE GAP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23544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aisles · 30 sub-categories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235440" y="461772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235440" y="46177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OFF-BRAND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235440" y="4983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depts + 2 aisles · 57 sub-categories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235440" y="544068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35440" y="54406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235440" y="5806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aisles · 31 sub-categories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figures/fig06_matrix_aisles.png · sheet Aisle_Recommendations (dot = Staples L1 › L2 aisle; size = ΣO)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HIGH-LEVEL RECOMMENDATIONS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view: home décor, creativity and outdoor living lead; the core stays 1P</a:t>
            </a:r>
            <a:endParaRPr lang="en-US" sz="2600" dirty="0"/>
          </a:p>
        </p:txBody>
      </p:sp>
      <p:pic>
        <p:nvPicPr>
          <p:cNvPr id="4" name="Image 0" descr="/home/claude/v2/outputs/final/figures/fig14_the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760018"/>
            <a:ext cx="8138160" cy="288076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371600"/>
            <a:ext cx="3200400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décor &amp; furnishings leads: 14 CURATE sub-categories, ΣO 13.9 – the 'white chair' logic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Celebrations, gifting &amp; creativity: ΣO 11.6 – sewing, quilting, party décor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living &amp; grounds: ΣO 11.9 – planters, patio, garden, outdoor structures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office &amp; business supplies: 10 of 13 sub-categories are 1P-CORE GAP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figures/fig14_themes.png · sheet Themes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HIGH-LEVEL RECOMMENDATIONS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Graph-DB view: where each recommendation plugs into Staples' aisles</a:t>
            </a:r>
            <a:endParaRPr lang="en-US" sz="2600" dirty="0"/>
          </a:p>
        </p:txBody>
      </p:sp>
      <p:pic>
        <p:nvPicPr>
          <p:cNvPr id="4" name="Image 0" descr="/home/claude/v2/outputs/final/figures/fig17_graph_d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010" y="1234440"/>
            <a:ext cx="7092459" cy="5166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412480" y="1371600"/>
            <a:ext cx="3383280" cy="493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in the knowledge graph: competitor shelf → its aisle (CHILD_OF) → the Staples aisle it matches (SAME_AS) → Staples department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group of CURATE picks docks into Furniture › Décor – one aisle to open first, not a scatter of categories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graph is exported to Neo4j with ready-made queries (consensus whitespace, aisle whitespace, cannibalisation)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method_g_graph.py + run_framework.py → figures/fig17_graph_dock.png · outputs/G/neo4j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HIGH-LEVEL RECOMMENDATIONS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Vector-DB view: CURATE sits at the edge of Staples' territory</a:t>
            </a:r>
            <a:endParaRPr lang="en-US" sz="2600" dirty="0"/>
          </a:p>
        </p:txBody>
      </p:sp>
      <p:pic>
        <p:nvPicPr>
          <p:cNvPr id="4" name="Image 0" descr="/home/claude/v2/outputs/final/figures/fig16_vector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73881"/>
            <a:ext cx="7863840" cy="508747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412480" y="1371600"/>
            <a:ext cx="3383280" cy="493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a category vector from the Qdrant collections, projected to 2-D (t-SNE)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Grey: Staples' own aisles and shelves. Colour: recommendation zone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and VERTICAL EXTENSION hug Staples' furniture, décor and kitchen clusters; OFF-BRAND forms separate islands (garden, sports, crafts)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method_v_vector.py + run_framework.py → figures/fig16_vector_map.png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RECOMMENDATIONS BY ZONE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these aisles to curated marketplace sellers now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008300"/>
          </a:solidFill>
          <a:ln w="12700">
            <a:solidFill>
              <a:srgbClr val="0083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123444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Staples aisles · 48 sub-categories with 2+ competitor evidence</a:t>
            </a:r>
            <a:endParaRPr lang="en-US" sz="1300" dirty="0"/>
          </a:p>
        </p:txBody>
      </p:sp>
      <p:pic>
        <p:nvPicPr>
          <p:cNvPr id="7" name="Image 0" descr="/home/claude/v2/outputs/final/figures/slides/slide_zone_cu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135583"/>
            <a:ext cx="8138160" cy="377555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95360" y="1691640"/>
            <a:ext cx="3200400" cy="4663440"/>
          </a:xfrm>
          <a:prstGeom prst="rect">
            <a:avLst/>
          </a:prstGeom>
          <a:solidFill>
            <a:srgbClr val="E6F2E6"/>
          </a:solidFill>
          <a:ln w="12700">
            <a:solidFill>
              <a:srgbClr val="E6F2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3252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Staples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194560"/>
            <a:ext cx="297180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› Décor is the flagship: bedding (West Elm 4x, Wayfair 10x deeper), bath &amp; shower (8 items at Staples vs 144 at West Elm), candles, shower curtains, décor accents, plus new shelves (vanities, daybeds, wreath hangers)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Sewing &amp; Tailoring: quilting, sewing machines, garment steamers (Amazon, Office Depot, Walmart)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&amp; outdoor living: planters, hedge trimmers, patio shelf ('Compasses': rename it)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office tables, commercial restaurant equipment, camera &amp; TV accessories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figures/slides/slide_zone_curate.png (deck version of fig08_zone_curate.png) · sheets CURATE, Aisle_Recommendations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RECOMMENDATIONS BY ZONE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enter through a vertical Staples already serves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EXTENSION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123444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Staples aisles · 53 sub-categories with 2+ competitor evidence</a:t>
            </a:r>
            <a:endParaRPr lang="en-US" sz="1300" dirty="0"/>
          </a:p>
        </p:txBody>
      </p:sp>
      <p:pic>
        <p:nvPicPr>
          <p:cNvPr id="7" name="Image 0" descr="/home/claude/v2/outputs/final/figures/slides/slide_zone_vertical_exten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0301"/>
            <a:ext cx="8138160" cy="40261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95360" y="1691640"/>
            <a:ext cx="3200400" cy="466344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3252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Staples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194560"/>
            <a:ext cx="297180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&amp; grounds: greenhouses, germination, tillers; outdoor structures (gazebos, railings, shutters) – via facilities and hospitality buyers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 / dorm furniture: armoires, teen dressers, nightstands – via student living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Vases, picnic baskets, candleholders, curtains, slipcovers: the next wave after Décor opens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&amp; sports sit at the low end of the zone: only via school or corporate wellness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figures/slides/slide_zone_vertical_extension.png (deck version of fig09_zone_vertical_extension.png) · sheets VERTICAL_EXTENSION, Aisle_Recommendations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RECOMMENDATIONS BY ZONE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decisions: real gaps next to a 1P 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C98500"/>
          </a:solidFill>
          <a:ln w="12700">
            <a:solidFill>
              <a:srgbClr val="C985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123444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Staples aisles · 18 sub-categories with 2+ competitor evidence</a:t>
            </a:r>
            <a:endParaRPr lang="en-US" sz="1300" dirty="0"/>
          </a:p>
        </p:txBody>
      </p:sp>
      <p:pic>
        <p:nvPicPr>
          <p:cNvPr id="7" name="Image 0" descr="/home/claude/v2/outputs/final/figures/slides/slide_zone_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113978"/>
            <a:ext cx="8138160" cy="381876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95360" y="1691640"/>
            <a:ext cx="3200400" cy="4663440"/>
          </a:xfrm>
          <a:prstGeom prst="rect">
            <a:avLst/>
          </a:prstGeom>
          <a:solidFill>
            <a:srgbClr val="FDF3DC"/>
          </a:solidFill>
          <a:ln w="12700">
            <a:solidFill>
              <a:srgbClr val="FDF3D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3252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Staples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194560"/>
            <a:ext cx="297180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Lighting: ceiling and outdoor lighting deep at Wayfair/West Elm, but next to desk and facilities lighting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&amp; bath textiles: split home vs foodservice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 tiles &amp; flooring: carried by all five competitors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Heaters, air conditioners, bookcases, microwaves, TV stands: decide on margin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figures/slides/slide_zone_review.png (deck version of fig10_zone_review.png) · sheets REVIEW, Aisle_Recommendations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RECOMMENDATIONS BY ZONE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are deeper in Staples' core – fix it in 1P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E34948"/>
          </a:solidFill>
          <a:ln w="12700">
            <a:solidFill>
              <a:srgbClr val="E349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1P-CORE GAP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123444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Staples aisles · 30 sub-categories with 2+ competitor evidence</a:t>
            </a:r>
            <a:endParaRPr lang="en-US" sz="1300" dirty="0"/>
          </a:p>
        </p:txBody>
      </p:sp>
      <p:pic>
        <p:nvPicPr>
          <p:cNvPr id="7" name="Image 0" descr="/home/claude/v2/outputs/final/figures/slides/slide_zone_1pcore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98372"/>
            <a:ext cx="8138160" cy="38499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95360" y="1691640"/>
            <a:ext cx="3200400" cy="4663440"/>
          </a:xfrm>
          <a:prstGeom prst="rect">
            <a:avLst/>
          </a:prstGeom>
          <a:solidFill>
            <a:srgbClr val="FBE7E7"/>
          </a:solidFill>
          <a:ln w="12700">
            <a:solidFill>
              <a:srgbClr val="FBE7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3252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Staples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194560"/>
            <a:ext cx="297180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chairs (Office Depot 5.7x, Wayfair 5.8x Staples' relative depth), gaming and breakroom chairs, chair mats, partitions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Breakroom appliances: blenders, toaster ovens, water filters (Office Depot 2–7x)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Consumables: binders, notebooks, markers, coffee, trash bags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marketplace here would compete with Staples' own shelf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figures/slides/slide_zone_1pcore_gap.png (deck version of fig11_zone_1pcore_gap.png) · sheets 1PCORE_GAP, Aisle_Recommendations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RECOMMENDATIONS BY ZONE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gaps, wrong store: what we deliberately pass 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OFF-BRAND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123444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competitor departments + 2 Staples aisles · 57 sub-categories with 2+ competitor evidence</a:t>
            </a:r>
            <a:endParaRPr lang="en-US" sz="1300" dirty="0"/>
          </a:p>
        </p:txBody>
      </p:sp>
      <p:pic>
        <p:nvPicPr>
          <p:cNvPr id="7" name="Image 0" descr="/home/claude/v2/outputs/final/figures/slides/slide_zone_off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154963"/>
            <a:ext cx="8138160" cy="373679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95360" y="1691640"/>
            <a:ext cx="3200400" cy="466344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3252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Staples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194560"/>
            <a:ext cx="297180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niches: screen printing, purse making, embroidery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Holiday-specific décor and seasonal novelties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sports: swimming, handball, airsoft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&amp; garden supplies: hydroponics, beekeeping, poultry care, soils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figures/slides/slide_zone_offbrand.png (deck version of fig12_zone_offbrand.png) · sheets OFFBRAND, Aisle_Recommendations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RECOMMENDATIONS BY ZONE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sold, but hard to find: fix findability before buying assortment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123444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Staples aisles · 31 sub-categories with 2+ competitor evidence</a:t>
            </a:r>
            <a:endParaRPr lang="en-US" sz="1300" dirty="0"/>
          </a:p>
        </p:txBody>
      </p:sp>
      <p:pic>
        <p:nvPicPr>
          <p:cNvPr id="7" name="Image 0" descr="/home/claude/v2/outputs/final/figures/slides/slide_zone_ver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0301"/>
            <a:ext cx="8138160" cy="40261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95360" y="1691640"/>
            <a:ext cx="3200400" cy="4663440"/>
          </a:xfrm>
          <a:prstGeom prst="rect">
            <a:avLst/>
          </a:prstGeom>
          <a:solidFill>
            <a:srgbClr val="ECEAF6"/>
          </a:solidFill>
          <a:ln w="12700">
            <a:solidFill>
              <a:srgbClr val="ECEA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3252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Staples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194560"/>
            <a:ext cx="297180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or cross-list 'Compasses' (patio furniture)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candles &amp; home fragrance, evaporative coolers, pull-out pantries, quilts, sneeze guards under customers' words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brand pages (watch list) map to thin OTC shelves (Ear &amp; Eye Drops: 4 items)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Checked, not guessed: 219 flagged gaps reviewed; 121 were already sold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figures/slides/slide_zone_verify.png (deck version of fig13_zone_verify.png) · sheets VERIFY, Aisle_Recommendations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RECOMMENDATIONS BY ZONE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evidence: several competitors, and multiples of Staples' depth</a:t>
            </a:r>
            <a:endParaRPr lang="en-US" sz="2600" dirty="0"/>
          </a:p>
        </p:txBody>
      </p:sp>
      <p:pic>
        <p:nvPicPr>
          <p:cNvPr id="4" name="Image 0" descr="/home/claude/v2/outputs/final/figures/fig15_peer_consens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95923"/>
            <a:ext cx="5669280" cy="4243394"/>
          </a:xfrm>
          <a:prstGeom prst="rect">
            <a:avLst/>
          </a:prstGeom>
        </p:spPr>
      </p:pic>
      <p:pic>
        <p:nvPicPr>
          <p:cNvPr id="5" name="Image 1" descr="/home/claude/v2/outputs/final/figures/fig18_deepen_evid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06802"/>
            <a:ext cx="5760720" cy="342163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figures/fig15_peer_consensus.png, fig18_deepen_evidence.png · sheets Concept_Members, Deepen_Evidence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CONFIDENCE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are robust; the order inside a zone is a shortlist</a:t>
            </a:r>
            <a:endParaRPr lang="en-US" sz="2600" dirty="0"/>
          </a:p>
        </p:txBody>
      </p:sp>
      <p:pic>
        <p:nvPicPr>
          <p:cNvPr id="4" name="Image 0" descr="/home/claude/v2/outputs/final/figures/fig19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43088"/>
            <a:ext cx="5760720" cy="4006064"/>
          </a:xfrm>
          <a:prstGeom prst="rect">
            <a:avLst/>
          </a:prstGeom>
        </p:spPr>
      </p:pic>
      <p:pic>
        <p:nvPicPr>
          <p:cNvPr id="5" name="Image 1" descr="/home/claude/v2/outputs/final/figures/fig20_method_agree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95758"/>
            <a:ext cx="5669280" cy="205480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17920" y="3749040"/>
            <a:ext cx="557784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the top 20 CURATE sub-categories stay CURATE in ≥80% of 500 stress-test runs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shelf match: Office Depot 84%; lifestyle and scale competitors 55%–70% – hence the verification loop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included: Staples sales and margin (CRS uses an editable 'coreness' assumption), demand signals, merchant-confirmed labels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figures/fig19_sensitivity.png, fig20_method_agreement.png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recommendation to launch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1214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session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603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0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CURATE and REVIEW with category merchants; their verdicts flow back into the model as labels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502920" cy="502920"/>
          </a:xfrm>
          <a:prstGeom prst="ellipse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1214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bands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5603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0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coreness assumption with 1P revenue and margin by aisle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2103120"/>
            <a:ext cx="502920" cy="502920"/>
          </a:xfrm>
          <a:prstGeom prst="ellipse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0" y="21214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25603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0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search volume for the top 40 sub-categories (optional term in O)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2245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Archetype PoC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634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0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Décor (bedding, bath, candles), Sewing &amp; Tailoring, outdoor living: SKU and attribute comparison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43400" y="4206240"/>
            <a:ext cx="502920" cy="502920"/>
          </a:xfrm>
          <a:prstGeom prst="ellipse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434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42245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Findability fixes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46634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0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'Compasses', cross-list VERIFY items, add search synonyms – no new assortment needed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4206240"/>
            <a:ext cx="502920" cy="502920"/>
          </a:xfrm>
          <a:prstGeom prst="ellipse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42245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quarterly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46634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0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 minutes end to end; a new competitor = 1 adapter + about 120 labelled rows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Detail: every sub-category unit on the matrix</a:t>
            </a:r>
            <a:endParaRPr lang="en-US" sz="2600" dirty="0"/>
          </a:p>
        </p:txBody>
      </p:sp>
      <p:pic>
        <p:nvPicPr>
          <p:cNvPr id="4" name="Image 0" descr="/home/claude/v2/outputs/final/figures/fig07_matrix_un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3745" y="1188720"/>
            <a:ext cx="7714030" cy="5212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figures/fig07_matrix_units.png · sheet All_Units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Staples marketplace – category-level recommendations (PoC v2)</dc:title>
  <dc:subject>PptxGenJS Presentation</dc:subject>
  <dc:creator>PptxGenJS</dc:creator>
  <cp:lastModifiedBy>PptxGenJS</cp:lastModifiedBy>
  <cp:revision>1</cp:revision>
  <dcterms:created xsi:type="dcterms:W3CDTF">2026-09-24T18:54:29Z</dcterms:created>
  <dcterms:modified xsi:type="dcterms:W3CDTF">2026-09-24T18:54:29Z</dcterms:modified>
</cp:coreProperties>
</file>